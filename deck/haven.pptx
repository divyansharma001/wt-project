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1828800"/>
            <a:ext cx="4572000" cy="4572000"/>
          </a:xfrm>
          <a:prstGeom prst="ellipse">
            <a:avLst/>
          </a:prstGeom>
          <a:solidFill>
            <a:srgbClr val="BAE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41832"/>
            <a:ext cx="658368" cy="65836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" y="1234440"/>
            <a:ext cx="438912" cy="29260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" y="868680"/>
            <a:ext cx="131673" cy="131673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914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1E293B"/>
                </a:solidFill>
                <a:latin typeface="Poppins"/>
              </a:rPr>
              <a:t>haven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8229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800" b="1" i="0">
                <a:solidFill>
                  <a:srgbClr val="1E293B"/>
                </a:solidFill>
                <a:latin typeface="Poppins"/>
              </a:rPr>
              <a:t>A gentle space
for your </a:t>
            </a:r>
          </a:p>
          <a:p>
            <a:pPr algn="l">
              <a:lnSpc>
                <a:spcPct val="105000"/>
              </a:lnSpc>
            </a:pPr>
            <a:r>
              <a:rPr sz="6800" b="1" i="0">
                <a:solidFill>
                  <a:srgbClr val="0284C7"/>
                </a:solidFill>
                <a:latin typeface="Poppins"/>
              </a:rPr>
              <a:t>mind.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4748B"/>
                </a:solidFill>
                <a:latin typeface="Poppins"/>
              </a:rPr>
              <a:t>An AI-powered mental wellness companion.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852160"/>
            <a:ext cx="2834640" cy="411480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5961888"/>
            <a:ext cx="201168" cy="20116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925312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75985"/>
                </a:solidFill>
                <a:latin typeface="Poppins"/>
              </a:rPr>
              <a:t>Project presentation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Mental health help is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hard to reach when you need it most.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10896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42900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0284C7"/>
                </a:solidFill>
                <a:latin typeface="Poppins"/>
              </a:rPr>
              <a:t>1 in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3891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adults experience mental illness in any given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310896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200" y="342900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EC4899"/>
                </a:solidFill>
                <a:latin typeface="Poppins"/>
              </a:rPr>
              <a:t>$150+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43891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average cost per therapy session — often out of pocket.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10896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42900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7C3AED"/>
                </a:solidFill>
                <a:latin typeface="Poppins"/>
              </a:rPr>
              <a:t>2 a.m.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3891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is when a lot of spirals happen. Therapists are asleep.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3108960"/>
            <a:ext cx="26060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40" y="342900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D97706"/>
                </a:solidFill>
                <a:latin typeface="Poppins"/>
              </a:rPr>
              <a:t>80%+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43891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of mental-health apps sell or share user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3657600"/>
            <a:ext cx="7315200" cy="73152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 i="0">
                <a:solidFill>
                  <a:srgbClr val="1E293B"/>
                </a:solidFill>
                <a:latin typeface="Poppins"/>
              </a:rPr>
              <a:t>Introducing haven.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34155"/>
                </a:solidFill>
                <a:latin typeface="Poppins"/>
              </a:rPr>
              <a:t>A private, browser-based companion that listens, reflects,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34155"/>
                </a:solidFill>
                <a:latin typeface="Poppins"/>
              </a:rPr>
              <a:t>and gently guides — whenever you need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181965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370832"/>
            <a:ext cx="18196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284C7"/>
                </a:solidFill>
                <a:latin typeface="Poppins"/>
              </a:rPr>
              <a:t>Eight mentors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9776" y="4297680"/>
            <a:ext cx="170078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08376" y="4370832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EC4899"/>
                </a:solidFill>
                <a:latin typeface="Poppins"/>
              </a:rPr>
              <a:t>Mood-matched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4297680"/>
            <a:ext cx="1700784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370832"/>
            <a:ext cx="1700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6A34A"/>
                </a:solidFill>
                <a:latin typeface="Poppins"/>
              </a:rPr>
              <a:t>100% private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1280160"/>
            <a:ext cx="3291840" cy="3291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0" y="1554480"/>
            <a:ext cx="2743200" cy="27432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0" y="2093976"/>
            <a:ext cx="1152144" cy="115214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02368" y="2606040"/>
            <a:ext cx="768096" cy="512064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30384" y="1965960"/>
            <a:ext cx="230428" cy="230428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0" y="411480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0" y="3474720"/>
            <a:ext cx="457200" cy="457200"/>
          </a:xfrm>
          <a:prstGeom prst="ellipse">
            <a:avLst/>
          </a:prstGeom>
          <a:solidFill>
            <a:srgbClr val="F9A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0" y="1188720"/>
            <a:ext cx="457200" cy="45720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95360" y="4937760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WHAT WE STAND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Three non-negotiables.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5204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4C7"/>
                </a:solidFill>
                <a:latin typeface="Poppi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2044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293B"/>
                </a:solidFill>
                <a:latin typeface="Poppins"/>
              </a:rPr>
              <a:t>Privacy is a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5720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No server. No database. No analytics. The conversation lives in your browser and leaves with you when you close the tab.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651760"/>
            <a:ext cx="35204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9718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4C7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352044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293B"/>
                </a:solidFill>
                <a:latin typeface="Poppins"/>
              </a:rPr>
              <a:t>Boundaries are 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45720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Every mentor knows what it is and what it isn’t. We won’t diagnose or prescribe — we’ll point to humans when a human is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651760"/>
            <a:ext cx="352044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297180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4C7"/>
                </a:solidFill>
                <a:latin typeface="Poppi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52044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293B"/>
                </a:solidFill>
                <a:latin typeface="Poppins"/>
              </a:rPr>
              <a:t>Gentleness over cleverness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5720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Mentors are tuned to slow down, reflect, and ask — not to dispense quick fixes. Soft and useful beats impressive and brittle.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MEET YOUR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E293B"/>
                </a:solidFill>
                <a:latin typeface="Poppins"/>
              </a:rPr>
              <a:t>Eight voices. One that’s right for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Each mentor has a distinct style, pace, and specialty. Switch anytime.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788920"/>
            <a:ext cx="1097280" cy="10972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99232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80360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Sarah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355848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Compassionate Listener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2" y="251460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67912" y="2788920"/>
            <a:ext cx="1097280" cy="109728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2999232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880360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Marcus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2352" y="3355848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Coping Strategist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251460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38544" y="2788920"/>
            <a:ext cx="1097280" cy="109728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2999232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2880360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Luna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3355848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Mindfulness Coach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51460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09176" y="2788920"/>
            <a:ext cx="1097280" cy="1097280"/>
          </a:xfrm>
          <a:prstGeom prst="ellipse">
            <a:avLst/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9176" y="2999232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43616" y="2880360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Kai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43616" y="3355848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Motivation &amp; Growth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407408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7280" y="4681728"/>
            <a:ext cx="1097280" cy="1097280"/>
          </a:xfrm>
          <a:prstGeom prst="ellipse">
            <a:avLst/>
          </a:prstGeom>
          <a:solidFill>
            <a:srgbClr val="F9A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8920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4773168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Elena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248656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Relationship Guide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93592" y="4407408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67912" y="4681728"/>
            <a:ext cx="1097280" cy="1097280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67912" y="48920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02352" y="4773168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David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2352" y="5248656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Burnout &amp; Stress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64224" y="4407408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638544" y="4681728"/>
            <a:ext cx="1097280" cy="1097280"/>
          </a:xfrm>
          <a:prstGeom prst="ellipse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48920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72984" y="4773168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Sofia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72984" y="5248656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Self-Compassion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4856" y="4407408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409176" y="4681728"/>
            <a:ext cx="1097280" cy="10972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09176" y="4892040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43616" y="4773168"/>
            <a:ext cx="960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Oliver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43616" y="5248656"/>
            <a:ext cx="960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284C7"/>
                </a:solidFill>
                <a:latin typeface="Poppins"/>
              </a:rPr>
              <a:t>Sleep &amp; Serenity</a:t>
            </a:r>
          </a:p>
        </p:txBody>
      </p:sp>
      <p:sp>
        <p:nvSpPr>
          <p:cNvPr id="45" name="Oval 44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MOOD-BASED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Tell haven how you feel —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we’ll suggest the right mentor.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063240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315468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82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Happy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17296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1821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Kai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200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Motivation &amp;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75888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767328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Calm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856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Luna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13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Mindfulness Coach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88536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379976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07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Anxious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3982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4074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Marcus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4256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Coping Strategist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063240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92240" y="315468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82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Sad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317296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1821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Sarah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200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Compassionate Listener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3675888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92240" y="3767328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794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Angry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7856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Marcus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8130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Coping Strategist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288536"/>
            <a:ext cx="516636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92240" y="4379976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407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Tired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43982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4A3B8"/>
                </a:solidFill>
                <a:latin typeface="Poppins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4074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93B"/>
                </a:solidFill>
                <a:latin typeface="Poppins"/>
              </a:rPr>
              <a:t>Oliver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4256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Sleep &amp; Serenity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120640"/>
            <a:ext cx="10515600" cy="731520"/>
          </a:xfrm>
          <a:prstGeom prst="roundRect">
            <a:avLst>
              <a:gd name="adj" fmla="val 15000"/>
            </a:avLst>
          </a:prstGeom>
          <a:solidFill>
            <a:srgbClr val="F0F9FF"/>
          </a:solidFill>
          <a:ln w="9525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75985"/>
                </a:solidFill>
                <a:latin typeface="Poppins"/>
              </a:rPr>
              <a:t>You can always switch mentors manually — the mood pick is a starting point, not a commitment.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E293B"/>
                </a:solidFill>
                <a:latin typeface="Poppins"/>
              </a:rPr>
              <a:t>Built for how you actually feel.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Everything designed around one idea: meeting you where you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7889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07008" y="2898648"/>
            <a:ext cx="292608" cy="29260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834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Mood-aware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Tell haven how you feel and we’ll suggest the right mentor for this moment.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51460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00600" y="27889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10328" y="2898648"/>
            <a:ext cx="292608" cy="292608"/>
          </a:xfrm>
          <a:prstGeom prst="ellipse">
            <a:avLst/>
          </a:prstGeom>
          <a:solidFill>
            <a:srgbClr val="F9A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834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Eight distinct mentors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5204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From compassionate listeners to coping strategists — each with a unique voice.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1460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920" y="27889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3648" y="2898648"/>
            <a:ext cx="292608" cy="292608"/>
          </a:xfrm>
          <a:prstGeom prst="ellipse">
            <a:avLst/>
          </a:prstGeom>
          <a:solidFill>
            <a:srgbClr val="86E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8346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Evidence-based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52044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Gentle CBT reframing, grounding exercises, breathwork, and self-compassion practices.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66344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" y="493776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07008" y="5047488"/>
            <a:ext cx="292608" cy="292608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49834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Private by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No accounts. No database. No tracking. Your key lives only on your device.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466344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00600" y="493776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10328" y="5047488"/>
            <a:ext cx="292608" cy="292608"/>
          </a:xfrm>
          <a:prstGeom prst="ellipse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49834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Crisis-aware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56692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Recognizes when more than a chat is needed and surfaces 988 and Crisis Text Line.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4663440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03920" y="493776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13648" y="5047488"/>
            <a:ext cx="292608" cy="292608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49834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Export when you want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6692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748B"/>
                </a:solidFill>
                <a:latin typeface="Poppins"/>
              </a:rPr>
              <a:t>Download any conversation as a transcript — revisit, share, or keep your own journal.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Three steps to a lighter moment.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017520"/>
            <a:ext cx="3520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3429000"/>
            <a:ext cx="685800" cy="685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295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369A1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3891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293B"/>
                </a:solidFill>
                <a:latin typeface="Poppins"/>
              </a:rPr>
              <a:t>Check in with your mood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16636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Pick from six moods — or skip it. Your call.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4206240"/>
            <a:ext cx="18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 i="0">
                <a:solidFill>
                  <a:srgbClr val="7DD3FC"/>
                </a:solidFill>
                <a:latin typeface="Poppi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3017520"/>
            <a:ext cx="3520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92040" y="3429000"/>
            <a:ext cx="685800" cy="685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35295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369A1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3891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293B"/>
                </a:solidFill>
                <a:latin typeface="Poppins"/>
              </a:rPr>
              <a:t>Choose a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516636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We recommend one based on your mood. Explore all eight freely.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4206240"/>
            <a:ext cx="18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 i="0">
                <a:solidFill>
                  <a:srgbClr val="7DD3FC"/>
                </a:solidFill>
                <a:latin typeface="Poppi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017520"/>
            <a:ext cx="3520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95360" y="3429000"/>
            <a:ext cx="685800" cy="685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3529584"/>
            <a:ext cx="685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369A1"/>
                </a:solidFill>
                <a:latin typeface="Poppi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38912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293B"/>
                </a:solidFill>
                <a:latin typeface="Poppins"/>
              </a:rPr>
              <a:t>Start talking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166360"/>
            <a:ext cx="2788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Share what’s on your mind. Your mentor listens, reflects, and guides.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1371600"/>
            <a:ext cx="5029200" cy="50292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2011680"/>
            <a:ext cx="3657600" cy="3657600"/>
          </a:xfrm>
          <a:prstGeom prst="ellipse">
            <a:avLst/>
          </a:prstGeom>
          <a:solidFill>
            <a:srgbClr val="BAE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2651760"/>
            <a:ext cx="2377440" cy="237744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35204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</a:rPr>
              <a:t>Inhale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BREATHE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74980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E293B"/>
                </a:solidFill>
                <a:latin typeface="Poppins"/>
              </a:rPr>
              <a:t>Four techniques.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E293B"/>
                </a:solidFill>
                <a:latin typeface="Poppins"/>
              </a:rPr>
              <a:t>Two minutes.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E293B"/>
                </a:solidFill>
                <a:latin typeface="Poppins"/>
              </a:rPr>
              <a:t>One steadier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Interactive guided breathing with real-time visual pacing.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06240"/>
            <a:ext cx="178308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4434840"/>
            <a:ext cx="502920" cy="274320"/>
          </a:xfrm>
          <a:prstGeom prst="roundRect">
            <a:avLst>
              <a:gd name="adj" fmla="val 4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439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4·4·4·4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2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4748B"/>
                </a:solidFill>
                <a:latin typeface="Poppins"/>
              </a:rPr>
              <a:t>Focus + stress reset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4206240"/>
            <a:ext cx="178308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80360" y="4434840"/>
            <a:ext cx="502920" cy="27432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44439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Relaxing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892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4·7·8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25780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4748B"/>
                </a:solidFill>
                <a:latin typeface="Poppins"/>
              </a:rPr>
              <a:t>Unwind before sleep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206240"/>
            <a:ext cx="178308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0" y="4434840"/>
            <a:ext cx="502920" cy="27432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44439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5·5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892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Coherent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25780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4748B"/>
                </a:solidFill>
                <a:latin typeface="Poppins"/>
              </a:rPr>
              <a:t>Daily nervous-system reset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4206240"/>
            <a:ext cx="178308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4434840"/>
            <a:ext cx="502920" cy="274320"/>
          </a:xfrm>
          <a:prstGeom prst="roundRect">
            <a:avLst>
              <a:gd name="adj" fmla="val 4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4439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4·6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92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E293B"/>
                </a:solidFill>
                <a:latin typeface="Poppins"/>
              </a:rPr>
              <a:t>Extended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5780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4748B"/>
                </a:solidFill>
                <a:latin typeface="Poppins"/>
              </a:rPr>
              <a:t>Dial down acute anxiety</a:t>
            </a:r>
          </a:p>
        </p:txBody>
      </p:sp>
      <p:sp>
        <p:nvSpPr>
          <p:cNvPr id="29" name="Oval 28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Tools for the hard moments.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Curated crisis support, grounding techniques, and trusted reading — always one tap away.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34640"/>
            <a:ext cx="10515600" cy="164592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3108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1546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FFFFF"/>
                </a:solidFill>
                <a:latin typeface="Poppins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108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2400E"/>
                </a:solidFill>
                <a:latin typeface="Poppins"/>
              </a:rPr>
              <a:t>Crisis support, always 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5661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988 Suicide &amp; Crisis Lifeline   ·   Text HOME to 741741   ·   SAMHSA 1-800-662-HELP   ·   Trevor Project 1-866-488-7386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98348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369A1"/>
                </a:solidFill>
                <a:latin typeface="Poppins"/>
              </a:rPr>
              <a:t>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39496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5·4·3·2·1 · Body scan · Anchor object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75488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498348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369A1"/>
                </a:solidFill>
                <a:latin typeface="Poppins"/>
              </a:rPr>
              <a:t>Daily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39496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Three good things · Morning light · Walk without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498348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369A1"/>
                </a:solidFill>
                <a:latin typeface="Poppins"/>
              </a:rPr>
              <a:t>Trusted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2880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NIMH · NAMI · Mind UK · Find A Helpline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59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914400"/>
            <a:ext cx="4572000" cy="4572000"/>
          </a:xfrm>
          <a:prstGeom prst="ellips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BAE6FD"/>
                </a:solidFill>
                <a:latin typeface="Poppins"/>
              </a:rPr>
              <a:t>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Poppins"/>
              </a:rPr>
              <a:t>Your words. Your device.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Poppins"/>
              </a:rPr>
              <a:t>That’s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E0F2FE"/>
                </a:solidFill>
                <a:latin typeface="Poppins"/>
              </a:rPr>
              <a:t>haven runs entirely in your browser. Nothing is stored on any server we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4434840"/>
            <a:ext cx="411480" cy="411480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75985"/>
                </a:solidFill>
                <a:latin typeface="Poppi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292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No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9496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E0F2FE"/>
                </a:solidFill>
                <a:latin typeface="Poppins"/>
              </a:rPr>
              <a:t>Direct browser → AI call. No middleman.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416052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86200" y="4434840"/>
            <a:ext cx="411480" cy="411480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4480560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75985"/>
                </a:solidFill>
                <a:latin typeface="Poppi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50292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No accounts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539496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E0F2FE"/>
                </a:solidFill>
                <a:latin typeface="Poppins"/>
              </a:rPr>
              <a:t>Nothing to sign up for, nothing to be stolen.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0" y="4434840"/>
            <a:ext cx="411480" cy="411480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480560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75985"/>
                </a:solidFill>
                <a:latin typeface="Poppi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0292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Your key, your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39496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E0F2FE"/>
                </a:solidFill>
                <a:latin typeface="Poppins"/>
              </a:rPr>
              <a:t>Gemini key stored locally, never transmitted to 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160520"/>
            <a:ext cx="2606040" cy="1737360"/>
          </a:xfrm>
          <a:prstGeom prst="roundRect">
            <a:avLst>
              <a:gd name="adj" fmla="val 1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64040" y="4434840"/>
            <a:ext cx="411480" cy="411480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4480560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75985"/>
                </a:solidFill>
                <a:latin typeface="Poppi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50292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</a:rPr>
              <a:t>Session-only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539496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E0F2FE"/>
                </a:solidFill>
                <a:latin typeface="Poppins"/>
              </a:rPr>
              <a:t>Close the tab and it’s gone. Truly.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How it works, plainly.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No black box. The whole data flow is three hops — and one of them is just rendering.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089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5204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A5E9"/>
                </a:solidFill>
                <a:latin typeface="Poppins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9776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293B"/>
                </a:solidFill>
                <a:latin typeface="Poppins"/>
              </a:rPr>
              <a:t>Your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344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The whole app (HTML, CSS, JS)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loads here. No backend.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40690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 i="0">
                <a:solidFill>
                  <a:srgbClr val="7DD3FC"/>
                </a:solidFill>
                <a:latin typeface="Poppi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089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3108960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5204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C3AED"/>
                </a:solidFill>
                <a:latin typeface="Poppins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9776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293B"/>
                </a:solidFill>
                <a:latin typeface="Poppins"/>
              </a:rPr>
              <a:t>Gemini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66344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Direct call to Google’s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Gemini 2.0 Flash endpoint.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0690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 i="0">
                <a:solidFill>
                  <a:srgbClr val="7DD3FC"/>
                </a:solidFill>
                <a:latin typeface="Poppi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10896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3108960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35204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A5E9"/>
                </a:solidFill>
                <a:latin typeface="Poppins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9776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293B"/>
                </a:solidFill>
                <a:latin typeface="Poppins"/>
              </a:rPr>
              <a:t>Your 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66344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Response renders as a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chat message. History in memory.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760720"/>
            <a:ext cx="10515600" cy="502920"/>
          </a:xfrm>
          <a:prstGeom prst="roundRect">
            <a:avLst>
              <a:gd name="adj" fmla="val 30000"/>
            </a:avLst>
          </a:prstGeom>
          <a:solidFill>
            <a:srgbClr val="F8FAFC"/>
          </a:solidFill>
          <a:ln w="9525"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34155"/>
                </a:solidFill>
                <a:latin typeface="Poppins"/>
              </a:rPr>
              <a:t>Vanilla HTML  ·  Vanilla CSS  ·  Vanilla JS  ·  Google Gemini API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777240"/>
            <a:ext cx="10515600" cy="530352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143000"/>
            <a:ext cx="640080" cy="64008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 i="0">
                <a:solidFill>
                  <a:srgbClr val="FFFFFF"/>
                </a:solidFill>
                <a:latin typeface="Poppins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188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97706"/>
                </a:solidFill>
                <a:latin typeface="Poppins"/>
              </a:rPr>
              <a:t>IF YOU NEED HELP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17320"/>
            <a:ext cx="8686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92400E"/>
                </a:solidFill>
                <a:latin typeface="Poppins"/>
              </a:rPr>
              <a:t>You don’t have to carry this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788920"/>
            <a:ext cx="48920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30175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92400E"/>
                </a:solidFill>
                <a:latin typeface="Poppins"/>
              </a:rPr>
              <a:t>CALL OR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29184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E293B"/>
                </a:solidFill>
                <a:latin typeface="Poppins"/>
              </a:rPr>
              <a:t>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84048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Suicide &amp; Crisis Lifeline · 24/7 · 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788920"/>
            <a:ext cx="48920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0175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92400E"/>
                </a:solidFill>
                <a:latin typeface="Poppins"/>
              </a:rPr>
              <a:t>TEXT HOME 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9184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E293B"/>
                </a:solidFill>
                <a:latin typeface="Poppins"/>
              </a:rPr>
              <a:t>741741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84048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Crisis Text Line · 24/7 ·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4434840"/>
            <a:ext cx="48920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66344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92400E"/>
                </a:solidFill>
                <a:latin typeface="Poppins"/>
              </a:rPr>
              <a:t>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93776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E293B"/>
                </a:solidFill>
                <a:latin typeface="Poppins"/>
              </a:rPr>
              <a:t>1-800-662-HELP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48640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SAMHSA National Helpline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434840"/>
            <a:ext cx="48920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66344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92400E"/>
                </a:solidFill>
                <a:latin typeface="Poppins"/>
              </a:rPr>
              <a:t>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E293B"/>
                </a:solidFill>
                <a:latin typeface="Poppins"/>
              </a:rPr>
              <a:t>1-866-488-7386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48640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The Trevor Project · LGBTQ+ youth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64748B"/>
                </a:solidFill>
                <a:latin typeface="Poppins"/>
              </a:rPr>
              <a:t>Outside the US? findahelpline.com lists verified crisis services in 130+ countries.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284C7"/>
                </a:solidFill>
                <a:latin typeface="Poppins"/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E293B"/>
                </a:solidFill>
                <a:latin typeface="Poppins"/>
              </a:rPr>
              <a:t>What haven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64748B"/>
                </a:solidFill>
                <a:latin typeface="Poppins"/>
              </a:rPr>
              <a:t>A tool that refuses to name its limits isn’t safe. So here they are, plainly.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91C1C"/>
                </a:solidFill>
                <a:latin typeface="Poppins"/>
              </a:rPr>
              <a:t>haven is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✗   A replacement for licensed therapy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976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✗   A diagnostic tool — it cannot diagnose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091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✗   A prescriber — no medical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206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✗   A crisis intervention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321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✗   A friend who remembers you next session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971800"/>
            <a:ext cx="4846320" cy="3200400"/>
          </a:xfrm>
          <a:prstGeom prst="roundRect">
            <a:avLst>
              <a:gd name="adj" fmla="val 6000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369A1"/>
                </a:solidFill>
                <a:latin typeface="Poppins"/>
              </a:rPr>
              <a:t>haven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88620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✓   A calm place to think out 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976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✓   A gentle reflector of what you’re feeling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70916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✓   A source of evidence-based coping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1206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✓   A nudge toward professional help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5321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Poppins"/>
              </a:rPr>
              <a:t>✓   Always-on, private, and free to use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6472123"/>
            <a:ext cx="230428" cy="2304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9729" y="6574536"/>
            <a:ext cx="153619" cy="1024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5332" y="6446520"/>
            <a:ext cx="46085" cy="46085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6446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34155"/>
                </a:solidFill>
                <a:latin typeface="Poppins"/>
              </a:rPr>
              <a:t>haven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64739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  ·  a gentle space for your mind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200400"/>
            <a:ext cx="6400800" cy="640080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760720" y="1225296"/>
            <a:ext cx="740664" cy="74066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07608" y="1554480"/>
            <a:ext cx="493776" cy="329184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89904" y="1143000"/>
            <a:ext cx="148132" cy="148132"/>
          </a:xfrm>
          <a:prstGeom prst="ellipse">
            <a:avLst/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103120"/>
            <a:ext cx="121916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293B"/>
                </a:solidFill>
                <a:latin typeface="Poppins"/>
              </a:rPr>
              <a:t>Ready to take a breath?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9184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>
                <a:solidFill>
                  <a:srgbClr val="64748B"/>
                </a:solidFill>
                <a:latin typeface="Poppins"/>
              </a:rPr>
              <a:t>Open haven — a gentle space for your mind.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61407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1407" y="4416552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Poppins"/>
              </a:rPr>
              <a:t>Try haven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3949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369A1"/>
                </a:solidFill>
                <a:latin typeface="Poppins"/>
              </a:rPr>
              <a:t>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64748B"/>
                </a:solidFill>
                <a:latin typeface="Poppins"/>
              </a:rPr>
              <a:t>Questions welcome.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94A3B8"/>
                </a:solidFill>
                <a:latin typeface="Poppin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